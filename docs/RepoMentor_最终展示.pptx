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8491c4fd8d544c4" /><Relationship Type="http://schemas.openxmlformats.org/officeDocument/2006/relationships/extended-properties" Target="/docProps/app.xml" Id="R241c126068b64e2e" /><Relationship Type="http://schemas.openxmlformats.org/officeDocument/2006/relationships/officeDocument" Target="/ppt/presentation.xml" Id="R90f30d7bb22b400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6af661297a4c83"/>
  </p:sldMasterIdLst>
  <p:notesMasterIdLst>
    <p:notesMasterId xmlns:r="http://schemas.openxmlformats.org/officeDocument/2006/relationships" r:id="R61b5636b9f4c4b7a"/>
  </p:notesMasterIdLst>
  <p:sldIdLst>
    <p:sldId xmlns:r="http://schemas.openxmlformats.org/officeDocument/2006/relationships" id="256" r:id="R8b1b4880110f4cf4"/>
    <p:sldId xmlns:r="http://schemas.openxmlformats.org/officeDocument/2006/relationships" id="257" r:id="Rcb4736b7c49b4ed1"/>
    <p:sldId xmlns:r="http://schemas.openxmlformats.org/officeDocument/2006/relationships" id="258" r:id="R6e5d1d73b9da4d50"/>
    <p:sldId xmlns:r="http://schemas.openxmlformats.org/officeDocument/2006/relationships" id="259" r:id="R581cf736e5d54816"/>
    <p:sldId xmlns:r="http://schemas.openxmlformats.org/officeDocument/2006/relationships" id="260" r:id="R9f12853296954766"/>
    <p:sldId xmlns:r="http://schemas.openxmlformats.org/officeDocument/2006/relationships" id="261" r:id="R205ec8c4eca5432a"/>
    <p:sldId xmlns:r="http://schemas.openxmlformats.org/officeDocument/2006/relationships" id="262" r:id="R9a5bf1c1146a43d5"/>
    <p:sldId xmlns:r="http://schemas.openxmlformats.org/officeDocument/2006/relationships" id="263" r:id="R78ae3522312b4323"/>
    <p:sldId xmlns:r="http://schemas.openxmlformats.org/officeDocument/2006/relationships" id="264" r:id="Rac55bd06b83c4d86"/>
    <p:sldId xmlns:r="http://schemas.openxmlformats.org/officeDocument/2006/relationships" id="265" r:id="R4af09533342842d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1832d62e44d42ca" /><Relationship Type="http://schemas.openxmlformats.org/officeDocument/2006/relationships/slideMaster" Target="/ppt/slideMasters/slideMaster1.xml" Id="R7f6af661297a4c83" /><Relationship Type="http://schemas.openxmlformats.org/officeDocument/2006/relationships/notesMaster" Target="/ppt/notesMasters/notesMaster1.xml" Id="R61b5636b9f4c4b7a" /><Relationship Type="http://schemas.openxmlformats.org/officeDocument/2006/relationships/presProps" Target="/ppt/presProps.xml" Id="R699ec41c9bc043bd" /><Relationship Type="http://schemas.openxmlformats.org/officeDocument/2006/relationships/viewProps" Target="/ppt/viewProps.xml" Id="Rd93f21f0762e4b4e" /><Relationship Type="http://schemas.openxmlformats.org/officeDocument/2006/relationships/tableStyles" Target="/ppt/tableStyles.xml" Id="R651a1ca1df4240d1" /><Relationship Type="http://schemas.openxmlformats.org/officeDocument/2006/relationships/slide" Target="/ppt/slides/slide1.xml" Id="R8b1b4880110f4cf4" /><Relationship Type="http://schemas.openxmlformats.org/officeDocument/2006/relationships/slide" Target="/ppt/slides/slide2.xml" Id="Rcb4736b7c49b4ed1" /><Relationship Type="http://schemas.openxmlformats.org/officeDocument/2006/relationships/slide" Target="/ppt/slides/slide3.xml" Id="R6e5d1d73b9da4d50" /><Relationship Type="http://schemas.openxmlformats.org/officeDocument/2006/relationships/slide" Target="/ppt/slides/slide4.xml" Id="R581cf736e5d54816" /><Relationship Type="http://schemas.openxmlformats.org/officeDocument/2006/relationships/slide" Target="/ppt/slides/slide5.xml" Id="R9f12853296954766" /><Relationship Type="http://schemas.openxmlformats.org/officeDocument/2006/relationships/slide" Target="/ppt/slides/slide6.xml" Id="R205ec8c4eca5432a" /><Relationship Type="http://schemas.openxmlformats.org/officeDocument/2006/relationships/slide" Target="/ppt/slides/slide7.xml" Id="R9a5bf1c1146a43d5" /><Relationship Type="http://schemas.openxmlformats.org/officeDocument/2006/relationships/slide" Target="/ppt/slides/slide8.xml" Id="R78ae3522312b4323" /><Relationship Type="http://schemas.openxmlformats.org/officeDocument/2006/relationships/slide" Target="/ppt/slides/slide9.xml" Id="Rac55bd06b83c4d86" /><Relationship Type="http://schemas.openxmlformats.org/officeDocument/2006/relationships/slide" Target="/ppt/slides/slide10.xml" Id="R4af09533342842d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84f759d99914b9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eb83d1a85894711" /><Relationship Type="http://schemas.openxmlformats.org/officeDocument/2006/relationships/notesMaster" Target="/ppt/notesMasters/notesMaster1.xml" Id="R2dfc913dcf46412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771b2e38df64660" /><Relationship Type="http://schemas.openxmlformats.org/officeDocument/2006/relationships/notesMaster" Target="/ppt/notesMasters/notesMaster1.xml" Id="R3b95573384af4a4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4b3bc0373d3481f" /><Relationship Type="http://schemas.openxmlformats.org/officeDocument/2006/relationships/notesMaster" Target="/ppt/notesMasters/notesMaster1.xml" Id="R654ddcdf3fb7497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6557d75142d4da7" /><Relationship Type="http://schemas.openxmlformats.org/officeDocument/2006/relationships/notesMaster" Target="/ppt/notesMasters/notesMaster1.xml" Id="Recfa1b956ae5467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f929606c0c24794" /><Relationship Type="http://schemas.openxmlformats.org/officeDocument/2006/relationships/notesMaster" Target="/ppt/notesMasters/notesMaster1.xml" Id="R4b08630a472a4bf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070041108334679" /><Relationship Type="http://schemas.openxmlformats.org/officeDocument/2006/relationships/notesMaster" Target="/ppt/notesMasters/notesMaster1.xml" Id="R773cbd47f389425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713477b65024530" /><Relationship Type="http://schemas.openxmlformats.org/officeDocument/2006/relationships/notesMaster" Target="/ppt/notesMasters/notesMaster1.xml" Id="Rc68df67aa383406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78ba367bf6f4c78" /><Relationship Type="http://schemas.openxmlformats.org/officeDocument/2006/relationships/notesMaster" Target="/ppt/notesMasters/notesMaster1.xml" Id="R2dbc90a04ca5401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2abef2602b34edf" /><Relationship Type="http://schemas.openxmlformats.org/officeDocument/2006/relationships/notesMaster" Target="/ppt/notesMasters/notesMaster1.xml" Id="R135c4331c74f40b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0a5bbe8f59846ef" /><Relationship Type="http://schemas.openxmlformats.org/officeDocument/2006/relationships/notesMaster" Target="/ppt/notesMasters/notesMaster1.xml" Id="R27d5269fc115450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b14235171845d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3a0a6388f05481d" /><Relationship Type="http://schemas.openxmlformats.org/officeDocument/2006/relationships/slideLayout" Target="/ppt/slideLayouts/slideLayout1.xml" Id="Rea16cb48a88a441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16cb48a88a441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a12014d430438b" /><Relationship Type="http://schemas.openxmlformats.org/officeDocument/2006/relationships/notesSlide" Target="/ppt/notesSlides/notesSlide1.xml" Id="Ra3ae33567b6f44a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3e18ff1a884398" /><Relationship Type="http://schemas.openxmlformats.org/officeDocument/2006/relationships/notesSlide" Target="/ppt/notesSlides/notesSlide2.xml" Id="R832373abeceb491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e0c8b711c54a41" /><Relationship Type="http://schemas.openxmlformats.org/officeDocument/2006/relationships/notesSlide" Target="/ppt/notesSlides/notesSlide3.xml" Id="R84eb007dccee437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8da8ec26dd48b9" /><Relationship Type="http://schemas.openxmlformats.org/officeDocument/2006/relationships/notesSlide" Target="/ppt/notesSlides/notesSlide4.xml" Id="R96f5f8a0d7cd4f1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1a4d2855414d53" /><Relationship Type="http://schemas.openxmlformats.org/officeDocument/2006/relationships/notesSlide" Target="/ppt/notesSlides/notesSlide5.xml" Id="Rf9006d0bd872440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56b643e07a4992" /><Relationship Type="http://schemas.openxmlformats.org/officeDocument/2006/relationships/image" Target="/ppt/media/image.jpeg" Id="R3c441fa243564b68" /><Relationship Type="http://schemas.openxmlformats.org/officeDocument/2006/relationships/image" Target="/ppt/media/image2.jpeg" Id="Rd248d3061b9e48f5" /><Relationship Type="http://schemas.openxmlformats.org/officeDocument/2006/relationships/notesSlide" Target="/ppt/notesSlides/notesSlide6.xml" Id="Rd00444d78cf8402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5ac3e3fcc64f3c" /><Relationship Type="http://schemas.openxmlformats.org/officeDocument/2006/relationships/notesSlide" Target="/ppt/notesSlides/notesSlide7.xml" Id="R6c9a4ee9d507481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9e5feca51e49f9" /><Relationship Type="http://schemas.openxmlformats.org/officeDocument/2006/relationships/notesSlide" Target="/ppt/notesSlides/notesSlide8.xml" Id="Rdf213ce93578496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696641e38443bb" /><Relationship Type="http://schemas.openxmlformats.org/officeDocument/2006/relationships/notesSlide" Target="/ppt/notesSlides/notesSlide9.xml" Id="R4dbda0cd33c843a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1ad426c8924a48" /><Relationship Type="http://schemas.openxmlformats.org/officeDocument/2006/relationships/notesSlide" Target="/ppt/notesSlides/notesSlide10.xml" Id="Rd7f981972d0142c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2AC5CB-C983-4226-8796-4CF0EEB06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5677B2-5519-4D50-A757-7BA323065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A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7E0402-6DC8-4999-AA6A-54C1363ED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6D5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6D5C8"/>
                </a:solidFill>
                <a:latin typeface="Microsoft YaHei"/>
                <a:ea typeface="Microsoft YaHei"/>
                <a:cs typeface="Microsoft YaHei"/>
              </a:rPr>
              <a:t>FINAL DEMO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986DFF-4EBF-49D6-81BB-7EA2A9848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9600"/>
            <a:ext cx="6667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RepoMentor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AE8540-F4E8-4DB2-9DE5-C9A644E62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52550"/>
            <a:ext cx="619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6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AB6C8"/>
                </a:solidFill>
                <a:latin typeface="Microsoft YaHei"/>
                <a:ea typeface="Microsoft YaHei"/>
                <a:cs typeface="Microsoft YaHei"/>
              </a:rPr>
              <a:t>面向新贡献者的多智能体仓库学习助手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FF027B-5A56-426A-A23F-3FAEE7502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66900"/>
            <a:ext cx="6191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输入 GitHub 仓库链接，自动生成代码地图、学习路径、开发流程、入门任务和有证据来源的问答。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313B9C-482E-4C2E-A8EE-59C9DAFD6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819150"/>
            <a:ext cx="3905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28415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378632-9E07-4575-A6B2-5B893B151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123950"/>
            <a:ext cx="3238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6D5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6D5C8"/>
                </a:solidFill>
                <a:latin typeface="Microsoft YaHei"/>
                <a:ea typeface="Microsoft YaHei"/>
                <a:cs typeface="Microsoft YaHei"/>
              </a:rPr>
              <a:t>一句话定位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A1445B-50B7-41FC-8949-052BEDCD3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543050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结构优先：先由 Worker 解析仓库事实，再由模型做解释与学习反馈。文件、命令、测试、文档、Issue 和 CI 不由 LLM 猜测。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093B95-01FD-4A78-A1CC-A923E666F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219450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C30"/>
          </a:solidFill>
          <a:ln xmlns:a="http://schemas.openxmlformats.org/drawingml/2006/main" w="9525">
            <a:solidFill>
              <a:srgbClr val="6EE7B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71520C-0B5E-4CDF-A053-CFDB2118F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286125"/>
            <a:ext cx="990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User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2E7713-CDFA-46C2-BAA2-DAC3181B7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19450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C30"/>
          </a:solidFill>
          <a:ln xmlns:a="http://schemas.openxmlformats.org/drawingml/2006/main" w="9525">
            <a:solidFill>
              <a:srgbClr val="4EA5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5AE0D7-E453-4075-BB77-EDE28A2F6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86125"/>
            <a:ext cx="990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Debug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8AAD32-FFEE-490D-A56D-911B2A1D0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57550"/>
            <a:ext cx="1619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E"/>
          </a:solidFill>
          <a:ln xmlns:a="http://schemas.openxmlformats.org/drawingml/2006/main" w="9525">
            <a:solidFill>
              <a:srgbClr val="27405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4A21E8-5121-42EA-BA5E-D8138B58B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71850"/>
            <a:ext cx="1314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6D5C8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36D5C8"/>
                </a:solidFill>
                <a:latin typeface="Aptos Display"/>
                <a:ea typeface="Aptos Display"/>
                <a:cs typeface="Aptos Display"/>
              </a:rPr>
              <a:t>64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FF505C-BB7F-47B7-A0DC-5450C50F6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24275"/>
            <a:ext cx="1314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AB6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AAB6C8"/>
                </a:solidFill>
                <a:latin typeface="Microsoft YaHei"/>
                <a:ea typeface="Microsoft YaHei"/>
                <a:cs typeface="Microsoft YaHei"/>
              </a:rPr>
              <a:t>演示仓库文件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F03A48-8BCB-439C-BAE0-C23327D20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257550"/>
            <a:ext cx="1619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E"/>
          </a:solidFill>
          <a:ln xmlns:a="http://schemas.openxmlformats.org/drawingml/2006/main" w="9525">
            <a:solidFill>
              <a:srgbClr val="2740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40A78D-092F-41CC-950C-A00C789A1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371850"/>
            <a:ext cx="1314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6D5C8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36D5C8"/>
                </a:solidFill>
                <a:latin typeface="Aptos Display"/>
                <a:ea typeface="Aptos Display"/>
                <a:cs typeface="Aptos Display"/>
              </a:rPr>
              <a:t>221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E35C27-6394-4639-AF67-8429D0F54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724275"/>
            <a:ext cx="1314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AB6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AAB6C8"/>
                </a:solidFill>
                <a:latin typeface="Microsoft YaHei"/>
                <a:ea typeface="Microsoft YaHei"/>
                <a:cs typeface="Microsoft YaHei"/>
              </a:rPr>
              <a:t>解析符号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D47A9A-F069-4233-BB6C-0EAD4564E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257550"/>
            <a:ext cx="1619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E"/>
          </a:solidFill>
          <a:ln xmlns:a="http://schemas.openxmlformats.org/drawingml/2006/main" w="9525">
            <a:solidFill>
              <a:srgbClr val="27405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EBC5B4-350A-4D53-BF71-0C38E401E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371850"/>
            <a:ext cx="1314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6D5C8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36D5C8"/>
                </a:solidFill>
                <a:latin typeface="Aptos Display"/>
                <a:ea typeface="Aptos Display"/>
                <a:cs typeface="Aptos Display"/>
              </a:rPr>
              <a:t>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9A337D-E0F3-44AE-B506-FAC8C7BB9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724275"/>
            <a:ext cx="1314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AB6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AAB6C8"/>
                </a:solidFill>
                <a:latin typeface="Microsoft YaHei"/>
                <a:ea typeface="Microsoft YaHei"/>
                <a:cs typeface="Microsoft YaHei"/>
              </a:rPr>
              <a:t>Worker 输出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A1E37E-75F7-421E-9AEB-2CA126196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257550"/>
            <a:ext cx="1619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E"/>
          </a:solidFill>
          <a:ln xmlns:a="http://schemas.openxmlformats.org/drawingml/2006/main" w="9525">
            <a:solidFill>
              <a:srgbClr val="2740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914F63-752B-4F6F-8EC7-59886F067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371850"/>
            <a:ext cx="1314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6D5C8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36D5C8"/>
                </a:solidFill>
                <a:latin typeface="Aptos Display"/>
                <a:ea typeface="Aptos Display"/>
                <a:cs typeface="Aptos Display"/>
              </a:rPr>
              <a:t>100%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0B6298-21ED-4145-9D75-22D64C842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724275"/>
            <a:ext cx="1314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AB6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AAB6C8"/>
                </a:solidFill>
                <a:latin typeface="Microsoft YaHei"/>
                <a:ea typeface="Microsoft YaHei"/>
                <a:cs typeface="Microsoft YaHei"/>
              </a:rPr>
              <a:t>Evidence 覆盖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117E04-14B6-4B4C-91FA-7C5F649C2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29200"/>
            <a:ext cx="723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EE7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6EE7B7"/>
                </a:solidFill>
                <a:latin typeface="Microsoft YaHei"/>
                <a:ea typeface="Microsoft YaHei"/>
                <a:cs typeface="Microsoft YaHei"/>
              </a:rPr>
              <a:t>交付目标：可运行 Demo · 系统展示 · 完整交互轨迹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F1C325-0C64-40B4-8635-0A1820995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29375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D8AA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D8AA2"/>
                </a:solidFill>
                <a:latin typeface="Microsoft YaHei"/>
                <a:ea typeface="Microsoft YaHei"/>
                <a:cs typeface="Microsoft YaHei"/>
              </a:rPr>
              <a:t>RepoMentor 最终展示材料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60F768-9021-4211-A7B1-5E6046C9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D8AA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D8AA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12001958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93C9C8-6EAD-444E-9AE9-E14953552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4D87D1-4D9C-4FAA-B292-7CE3D291B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A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A3FBDA-9046-442D-A54A-C4F3D7F7D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6D5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6D5C8"/>
                </a:solidFill>
                <a:latin typeface="Microsoft YaHei"/>
                <a:ea typeface="Microsoft YaHei"/>
                <a:cs typeface="Microsoft YaHei"/>
              </a:rPr>
              <a:t>TASK OBJECTIVES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35E073-F3DE-4B8D-A01E-389497647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9600"/>
            <a:ext cx="6667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任务目标：从“看不懂仓库”到“知道下一步怎么做”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21F3A6-0ABD-4297-B03B-FCED13609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52550"/>
            <a:ext cx="619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6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AB6C8"/>
                </a:solidFill>
                <a:latin typeface="Microsoft YaHei"/>
                <a:ea typeface="Microsoft YaHei"/>
                <a:cs typeface="Microsoft YaHei"/>
              </a:rPr>
              <a:t>新贡献者不缺信息，缺的是可信的阅读顺序、运行路径和证据边界。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53EE49-ED07-490E-96FF-7CB11AB41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1066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33A"/>
          </a:solidFill>
          <a:ln xmlns:a="http://schemas.openxmlformats.org/drawingml/2006/main" w="9525">
            <a:solidFill>
              <a:srgbClr val="2A426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37919E-8C8E-4BE8-94F0-0582D8D12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19275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EE7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6EE7B7"/>
                </a:solidFill>
                <a:latin typeface="Microsoft YaHei"/>
                <a:ea typeface="Microsoft YaHei"/>
                <a:cs typeface="Microsoft YaHei"/>
              </a:rPr>
              <a:t>1. 快速理解仓库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2D7858-054B-4316-835F-B3946410A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838325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入口文件、核心目录、语言、命令、关键文件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A0E407-7A84-4AAE-B141-7B90557B0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14600"/>
            <a:ext cx="1066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2A426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E5B5BC-6E19-4A5E-A8BD-916714A29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38425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6D5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6D5C8"/>
                </a:solidFill>
                <a:latin typeface="Microsoft YaHei"/>
                <a:ea typeface="Microsoft YaHei"/>
                <a:cs typeface="Microsoft YaHei"/>
              </a:rPr>
              <a:t>2. 学习核心模块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957826-C533-43AB-B963-450834059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657475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主流程、模块卡、符号、测试和文档关系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2D4A95-C2E0-435C-A2A1-EDF3208D9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1066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33A"/>
          </a:solidFill>
          <a:ln xmlns:a="http://schemas.openxmlformats.org/drawingml/2006/main" w="9525">
            <a:solidFill>
              <a:srgbClr val="2A426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E897E9-C522-4152-9B28-0BFB3323A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57575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6D5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6D5C8"/>
                </a:solidFill>
                <a:latin typeface="Microsoft YaHei"/>
                <a:ea typeface="Microsoft YaHei"/>
                <a:cs typeface="Microsoft YaHei"/>
              </a:rPr>
              <a:t>3. 理解开发流程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41F615-117C-420E-96C6-9C6C82524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476625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setup / run / test / PR / CI / 风险提示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B6E768-8439-4F42-AAFD-DFDA7CBED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52900"/>
            <a:ext cx="1066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2A426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722AB5-A06C-490F-B107-FF31D8A56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76725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6D5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6D5C8"/>
                </a:solidFill>
                <a:latin typeface="Microsoft YaHei"/>
                <a:ea typeface="Microsoft YaHei"/>
                <a:cs typeface="Microsoft YaHei"/>
              </a:rPr>
              <a:t>4. 推荐入门任务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FDF4EF-03EE-4AE2-B6E9-F7D8AF210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295775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open issue 为 0 时生成 internal first tasks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6BC490-1FAB-4DAD-8CDA-D32E4A5CA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72050"/>
            <a:ext cx="1066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33A"/>
          </a:solidFill>
          <a:ln xmlns:a="http://schemas.openxmlformats.org/drawingml/2006/main" w="9525">
            <a:solidFill>
              <a:srgbClr val="2A426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6D51A8-873E-4BF6-A432-6EC5CF2A9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95875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6D5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6D5C8"/>
                </a:solidFill>
                <a:latin typeface="Microsoft YaHei"/>
                <a:ea typeface="Microsoft YaHei"/>
                <a:cs typeface="Microsoft YaHei"/>
              </a:rPr>
              <a:t>5. 降低学习成本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F09154-59A9-4159-A365-73FE9194A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114925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把阅读路径、证据来源和下一步动作放在同一界面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E5989F-5A6D-49A1-8FBD-647690E7B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24550"/>
            <a:ext cx="914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核心设计选择：仓库事实先结构化，模型只负责解释、翻译润色和学习反馈。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6AA826-8644-4F07-8B30-F347B119D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29375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D8AA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D8AA2"/>
                </a:solidFill>
                <a:latin typeface="Microsoft YaHei"/>
                <a:ea typeface="Microsoft YaHei"/>
                <a:cs typeface="Microsoft YaHei"/>
              </a:rPr>
              <a:t>RepoMentor 最终展示材料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98A804-93A8-429F-9973-E1D70A326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D8AA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D8AA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928676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09DB6E-2F7B-436A-8AAC-E0B2BC123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EE6F30-29D7-4899-8528-23239E6C1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A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1F628E-C4EB-4FA6-B8D4-3FC47BF5D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6D5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6D5C8"/>
                </a:solidFill>
                <a:latin typeface="Microsoft YaHei"/>
                <a:ea typeface="Microsoft YaHei"/>
                <a:cs typeface="Microsoft YaHei"/>
              </a:rPr>
              <a:t>USER 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C5F6DC-8BD8-4BEC-B188-40A9F7302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9600"/>
            <a:ext cx="6667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用户使用流程：一条从 URL 到证据问答的路径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7077C3-7A77-410E-8AD9-7999EEA40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52550"/>
            <a:ext cx="619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6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AB6C8"/>
                </a:solidFill>
                <a:latin typeface="Microsoft YaHei"/>
                <a:ea typeface="Microsoft YaHei"/>
                <a:cs typeface="Microsoft YaHei"/>
              </a:rPr>
              <a:t>默认用户页只保留学习和贡献所需信息，避免把内部 Agent Flow 暴露给普通用户。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9CD842-D887-40E9-B442-C10A51491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38350"/>
            <a:ext cx="13525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33A"/>
          </a:solidFill>
          <a:ln xmlns:a="http://schemas.openxmlformats.org/drawingml/2006/main" w="9525">
            <a:solidFill>
              <a:srgbClr val="2A426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D74618-5334-48CF-A613-7A287C391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38375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输入 GitHub URL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E972E8-8E62-468B-9C25-B9F4596EC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09850"/>
            <a:ext cx="1123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AAB6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AAB6C8"/>
                </a:solidFill>
                <a:latin typeface="Microsoft YaHei"/>
                <a:ea typeface="Microsoft YaHei"/>
                <a:cs typeface="Microsoft YaHei"/>
              </a:rPr>
              <a:t>公开仓库链接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23CFD3-A164-4499-B01E-C86680706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5717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A5FF"/>
          </a:solidFill>
          <a:ln xmlns:a="http://schemas.openxmlformats.org/drawingml/2006/main" w="0">
            <a:solidFill>
              <a:srgbClr val="4EA5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980552-F653-4714-B5E1-A40D4CE16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5050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EA5FF"/>
          </a:solidFill>
          <a:ln xmlns:a="http://schemas.openxmlformats.org/drawingml/2006/main" w="0">
            <a:solidFill>
              <a:srgbClr val="4EA5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040801-6542-4113-AE1C-5204950C7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038350"/>
            <a:ext cx="13525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2A426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45F908-699C-4764-8C44-5B653B311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238375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仓库解析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AF47EE-4F9D-4C17-9509-FBDB318BF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609850"/>
            <a:ext cx="1123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AAB6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AAB6C8"/>
                </a:solidFill>
                <a:latin typeface="Microsoft YaHei"/>
                <a:ea typeface="Microsoft YaHei"/>
                <a:cs typeface="Microsoft YaHei"/>
              </a:rPr>
              <a:t>files / symbols / docs / tests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AB9F04-4657-43C5-9B3E-AD144074E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5717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A5FF"/>
          </a:solidFill>
          <a:ln xmlns:a="http://schemas.openxmlformats.org/drawingml/2006/main" w="0">
            <a:solidFill>
              <a:srgbClr val="4EA5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51D750-58DF-4314-8F46-A528A083D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5050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EA5FF"/>
          </a:solidFill>
          <a:ln xmlns:a="http://schemas.openxmlformats.org/drawingml/2006/main" w="0">
            <a:solidFill>
              <a:srgbClr val="4EA5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A0A92B-09C0-4D20-ABC7-A9B219EFC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038350"/>
            <a:ext cx="13525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33A"/>
          </a:solidFill>
          <a:ln xmlns:a="http://schemas.openxmlformats.org/drawingml/2006/main" w="9525">
            <a:solidFill>
              <a:srgbClr val="2A426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8D4B53-9511-454F-A767-3252B9962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238375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代码地图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6B6AAC-E0F6-47FD-83BD-334B96525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609850"/>
            <a:ext cx="1123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AAB6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AAB6C8"/>
                </a:solidFill>
                <a:latin typeface="Microsoft YaHei"/>
                <a:ea typeface="Microsoft YaHei"/>
                <a:cs typeface="Microsoft YaHei"/>
              </a:rPr>
              <a:t>模块与关系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25380A-6136-4F45-9450-3C830D69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5717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A5FF"/>
          </a:solidFill>
          <a:ln xmlns:a="http://schemas.openxmlformats.org/drawingml/2006/main" w="0">
            <a:solidFill>
              <a:srgbClr val="4EA5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92761B-7CC4-4500-B1A1-459CCCAF3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5050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EA5FF"/>
          </a:solidFill>
          <a:ln xmlns:a="http://schemas.openxmlformats.org/drawingml/2006/main" w="0">
            <a:solidFill>
              <a:srgbClr val="4EA5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290217-46E3-4E82-A91B-7721F23DC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038350"/>
            <a:ext cx="13525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2A426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E57609-7171-4B30-B9F2-92F3B2F90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238375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学习路径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0914F2-53F1-404E-8339-AB95DF8D5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609850"/>
            <a:ext cx="1123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AAB6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AAB6C8"/>
                </a:solidFill>
                <a:latin typeface="Microsoft YaHei"/>
                <a:ea typeface="Microsoft YaHei"/>
                <a:cs typeface="Microsoft YaHei"/>
              </a:rPr>
              <a:t>阅读顺序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0ACC05-A0C7-4599-B6F6-2BE18AF79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717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A5FF"/>
          </a:solidFill>
          <a:ln xmlns:a="http://schemas.openxmlformats.org/drawingml/2006/main" w="0">
            <a:solidFill>
              <a:srgbClr val="4EA5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28BB43-451A-4E2B-B0E6-1717A4035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050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EA5FF"/>
          </a:solidFill>
          <a:ln xmlns:a="http://schemas.openxmlformats.org/drawingml/2006/main" w="0">
            <a:solidFill>
              <a:srgbClr val="4EA5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D2B7A0-7A8D-46A5-BCDF-BCA33CF05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38350"/>
            <a:ext cx="13525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33A"/>
          </a:solidFill>
          <a:ln xmlns:a="http://schemas.openxmlformats.org/drawingml/2006/main" w="9525">
            <a:solidFill>
              <a:srgbClr val="2A426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31C251-D759-4686-9509-6466BDB5F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238375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开发流程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1D133A-C649-4E14-A11F-8F58B5F86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609850"/>
            <a:ext cx="1123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AAB6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AAB6C8"/>
                </a:solidFill>
                <a:latin typeface="Microsoft YaHei"/>
                <a:ea typeface="Microsoft YaHei"/>
                <a:cs typeface="Microsoft YaHei"/>
              </a:rPr>
              <a:t>命令与 CI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0D8484-3C0D-4684-A40C-E8C5DB985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717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A5FF"/>
          </a:solidFill>
          <a:ln xmlns:a="http://schemas.openxmlformats.org/drawingml/2006/main" w="0">
            <a:solidFill>
              <a:srgbClr val="4EA5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3916A3-7432-473D-A72A-FC62AE7EB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050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EA5FF"/>
          </a:solidFill>
          <a:ln xmlns:a="http://schemas.openxmlformats.org/drawingml/2006/main" w="0">
            <a:solidFill>
              <a:srgbClr val="4EA5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6E887F-9BEA-4536-A7F8-B2EF62095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38350"/>
            <a:ext cx="13525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2A426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959493-8EDA-41CD-B1AB-F2E7B79BB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38375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推荐任务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08DFD7D-A2D9-469C-8B89-8AEEB07B3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09850"/>
            <a:ext cx="1123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AAB6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AAB6C8"/>
                </a:solidFill>
                <a:latin typeface="Microsoft YaHei"/>
                <a:ea typeface="Microsoft YaHei"/>
                <a:cs typeface="Microsoft YaHei"/>
              </a:rPr>
              <a:t>Issue 或 internal tasks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15451C9-B773-4375-9CEC-7E5DB8532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5717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A5FF"/>
          </a:solidFill>
          <a:ln xmlns:a="http://schemas.openxmlformats.org/drawingml/2006/main" w="0">
            <a:solidFill>
              <a:srgbClr val="4EA5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651AFBD-6C44-4516-AFE2-77F301690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5050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EA5FF"/>
          </a:solidFill>
          <a:ln xmlns:a="http://schemas.openxmlformats.org/drawingml/2006/main" w="0">
            <a:solidFill>
              <a:srgbClr val="4EA5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2E3BE11-3A8D-4E89-94BC-61A984E01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038350"/>
            <a:ext cx="13525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33A"/>
          </a:solidFill>
          <a:ln xmlns:a="http://schemas.openxmlformats.org/drawingml/2006/main" w="9525">
            <a:solidFill>
              <a:srgbClr val="6EE7B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D752AEC-93C8-4610-854E-9D6272AF4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238375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证据问答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B32B371-31E5-430D-82BB-45DC53489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609850"/>
            <a:ext cx="1123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AAB6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AAB6C8"/>
                </a:solidFill>
                <a:latin typeface="Microsoft YaHei"/>
                <a:ea typeface="Microsoft YaHei"/>
                <a:cs typeface="Microsoft YaHei"/>
              </a:rPr>
              <a:t>FinalAnswer + evidence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D794D77-F774-4639-959F-F2FB5D5A2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00500"/>
            <a:ext cx="4619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C30"/>
          </a:solidFill>
          <a:ln xmlns:a="http://schemas.openxmlformats.org/drawingml/2006/main" w="9525">
            <a:solidFill>
              <a:srgbClr val="6EE7B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041D98B-B57D-4860-89EA-1DA46EAB0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29100"/>
            <a:ext cx="4095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EE7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EE7B7"/>
                </a:solidFill>
                <a:latin typeface="Microsoft YaHei"/>
                <a:ea typeface="Microsoft YaHei"/>
                <a:cs typeface="Microsoft YaHei"/>
              </a:rPr>
              <a:t>用户页面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1584938-0EEB-4070-B60F-EFE3EA8E5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10100"/>
            <a:ext cx="3905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概览、代码地图、学习路径、开发流程、推荐任务、QA、简化证据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24F2D25-6448-40D1-B88B-0269A1492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000500"/>
            <a:ext cx="4619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C30"/>
          </a:solidFill>
          <a:ln xmlns:a="http://schemas.openxmlformats.org/drawingml/2006/main" w="9525">
            <a:solidFill>
              <a:srgbClr val="4EA5F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9A925C8-561F-4B1B-99E8-C27FB7CC1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229100"/>
            <a:ext cx="4095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EA5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4EA5FF"/>
                </a:solidFill>
                <a:latin typeface="Microsoft YaHei"/>
                <a:ea typeface="Microsoft YaHei"/>
                <a:cs typeface="Microsoft YaHei"/>
              </a:rPr>
              <a:t>调试控制台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4550687-84AD-4C71-89EB-7290112B5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610100"/>
            <a:ext cx="3905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Agent Flow、Worker Outputs、Data Layer、SelfCheck、FinalAnswer JSON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AD958EF-2DCF-4624-8371-EEB438070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29375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D8AA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D8AA2"/>
                </a:solidFill>
                <a:latin typeface="Microsoft YaHei"/>
                <a:ea typeface="Microsoft YaHei"/>
                <a:cs typeface="Microsoft YaHei"/>
              </a:rPr>
              <a:t>RepoMentor 最终展示材料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113AE92-2DC6-4B15-877C-D3B86C9C2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D8AA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D8AA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0171873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574804-A1B2-4A6A-8240-DF2898E86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9D0484-ED4C-4DE0-8004-CB791545E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A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1096E0-8DA8-4D9D-BE68-15BE1124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6D5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6D5C8"/>
                </a:solidFill>
                <a:latin typeface="Microsoft YaHei"/>
                <a:ea typeface="Microsoft YaHei"/>
                <a:cs typeface="Microsoft YaHei"/>
              </a:rPr>
              <a:t>SYSTEM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DD94B5-9853-4F66-AA6F-F26AE5DD7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9600"/>
            <a:ext cx="6667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系统整体架构：结构化事实先于模型回答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32D97E-62AF-42DC-A91F-65FDE24E6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52550"/>
            <a:ext cx="619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6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AB6C8"/>
                </a:solidFill>
                <a:latin typeface="Microsoft YaHei"/>
                <a:ea typeface="Microsoft YaHei"/>
                <a:cs typeface="Microsoft YaHei"/>
              </a:rPr>
              <a:t>前端体验、后端编排、多 Worker、数据层、LLM 与 Evaluator 分层协作。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F9528A-CBEC-47F7-A550-24F0810AF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00200"/>
            <a:ext cx="971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E"/>
          </a:solidFill>
          <a:ln xmlns:a="http://schemas.openxmlformats.org/drawingml/2006/main" w="9525">
            <a:solidFill>
              <a:srgbClr val="6EE7B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9E29B5-115C-4C61-BB4F-56262BF2A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335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EE7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6EE7B7"/>
                </a:solidFill>
                <a:latin typeface="Microsoft YaHei"/>
                <a:ea typeface="Microsoft YaHei"/>
                <a:cs typeface="Microsoft YaHei"/>
              </a:rPr>
              <a:t>前端 React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B7BE77-9782-4FB8-87AD-35EB2DFE7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75260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User View / Debug View / Model Switch / Evidence Panels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D17A65-83E9-4165-8518-D9F14AEE8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81250"/>
            <a:ext cx="971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E"/>
          </a:solidFill>
          <a:ln xmlns:a="http://schemas.openxmlformats.org/drawingml/2006/main" w="9525">
            <a:solidFill>
              <a:srgbClr val="4EA5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F8AF60-C40C-4EF6-AC58-DD8592D04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146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4EA5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4EA5FF"/>
                </a:solidFill>
                <a:latin typeface="Microsoft YaHei"/>
                <a:ea typeface="Microsoft YaHei"/>
                <a:cs typeface="Microsoft YaHei"/>
              </a:rPr>
              <a:t>FastAPI 后端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B588C7-7CA2-4128-BC91-281CA2368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3365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REST API / Orchestrator / QA Pipeline / Debug API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9217A8-A1E8-4EA3-B160-7002CC2A1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62300"/>
            <a:ext cx="971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E"/>
          </a:solidFill>
          <a:ln xmlns:a="http://schemas.openxmlformats.org/drawingml/2006/main" w="9525">
            <a:solidFill>
              <a:srgbClr val="36D5C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13EB55-A2D3-4179-8E41-E2D55E13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956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6D5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6D5C8"/>
                </a:solidFill>
                <a:latin typeface="Microsoft YaHei"/>
                <a:ea typeface="Microsoft YaHei"/>
                <a:cs typeface="Microsoft YaHei"/>
              </a:rPr>
              <a:t>多 Worker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B880F6-B3C7-4567-BFF5-8F9C3BBAC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31470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RepoGraph · Symbol · Dependency · Docs · Test · Issue · Workflow · Code Explanation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90F743-A4A8-46D3-9E56-6BE820937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43350"/>
            <a:ext cx="971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E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E738D0-992E-41B4-AB92-594DBE575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767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数据层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F244A8-0AFC-4D24-BEBC-07AB41052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9575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Repository Intelligence Graph · Shared Working Memory · Hybrid Index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C83A0D-D8E4-4EAA-B843-1D164E6AB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24400"/>
            <a:ext cx="971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E"/>
          </a:solidFill>
          <a:ln xmlns:a="http://schemas.openxmlformats.org/drawingml/2006/main" w="9525">
            <a:solidFill>
              <a:srgbClr val="FB718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2C4769-FF6B-4DDF-B127-733665536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577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B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B7185"/>
                </a:solidFill>
                <a:latin typeface="Microsoft YaHei"/>
                <a:ea typeface="Microsoft YaHei"/>
                <a:cs typeface="Microsoft YaHei"/>
              </a:rPr>
              <a:t>LLM + Evaluator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161C0E-4E58-4CA5-B722-280B4A925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87680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Mock / DeepSeek · Candidate Answer · SelfCheck · Optimizer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CA84FE-E7C7-42D4-9D97-82A24C726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810250"/>
            <a:ext cx="904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EE7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6EE7B7"/>
                </a:solidFill>
                <a:latin typeface="Microsoft YaHei"/>
                <a:ea typeface="Microsoft YaHei"/>
                <a:cs typeface="Microsoft YaHei"/>
              </a:rPr>
              <a:t>设计亮点：LLM 不直接读取全仓库自由发挥，而是解释已检索证据，降低命令幻觉和错误归因。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92DB52-5019-494A-A787-359EDC0D9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29375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D8AA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D8AA2"/>
                </a:solidFill>
                <a:latin typeface="Microsoft YaHei"/>
                <a:ea typeface="Microsoft YaHei"/>
                <a:cs typeface="Microsoft YaHei"/>
              </a:rPr>
              <a:t>RepoMentor 最终展示材料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901158-F1E2-49CE-B9BF-1ED824A34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D8AA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D8AA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3489370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795D3E-921E-4F39-9D14-79E8D196C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C72C96-928C-4D00-92B3-1D40FD282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A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7204D7-0802-4153-9A2F-1A1FAA82C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6D5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6D5C8"/>
                </a:solidFill>
                <a:latin typeface="Microsoft YaHei"/>
                <a:ea typeface="Microsoft YaHei"/>
                <a:cs typeface="Microsoft YaHei"/>
              </a:rPr>
              <a:t>AGENT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5332C9-F62E-46FF-8EFF-A0FC4A0C6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9600"/>
            <a:ext cx="6667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Agent 工作流：Orchestrator 驱动，Evaluator 收口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02E922-5C88-47CA-B474-5F2F84A31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52550"/>
            <a:ext cx="619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6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AB6C8"/>
                </a:solidFill>
                <a:latin typeface="Microsoft YaHei"/>
                <a:ea typeface="Microsoft YaHei"/>
                <a:cs typeface="Microsoft YaHei"/>
              </a:rPr>
              <a:t>每个 Worker 输出结构化结果，Shared Memory 汇总证据，最终答案必须经过自检。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043D34-3C37-4DC7-9F6A-DBD32BF7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1619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E"/>
          </a:solidFill>
          <a:ln xmlns:a="http://schemas.openxmlformats.org/drawingml/2006/main" w="9525">
            <a:solidFill>
              <a:srgbClr val="4EA5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75F16D-7080-474B-A2E2-810A1532E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47900"/>
            <a:ext cx="1352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4EA5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4EA5FF"/>
                </a:solidFill>
                <a:latin typeface="Microsoft YaHei"/>
                <a:ea typeface="Microsoft YaHei"/>
                <a:cs typeface="Microsoft YaHei"/>
              </a:rPr>
              <a:t>Orchestrator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5CB5FD-FD73-4599-ABD1-D2137E0FA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000250"/>
            <a:ext cx="1619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E"/>
          </a:solidFill>
          <a:ln xmlns:a="http://schemas.openxmlformats.org/drawingml/2006/main" w="9525">
            <a:solidFill>
              <a:srgbClr val="36D5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CB8707-5A67-4C02-819C-D8C26C960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247900"/>
            <a:ext cx="1352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36D5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6D5C8"/>
                </a:solidFill>
                <a:latin typeface="Microsoft YaHei"/>
                <a:ea typeface="Microsoft YaHei"/>
                <a:cs typeface="Microsoft YaHei"/>
              </a:rPr>
              <a:t>Workers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2A88E8-D3EF-4341-A3C5-77D42B0DB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00250"/>
            <a:ext cx="1619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E"/>
          </a:solidFill>
          <a:ln xmlns:a="http://schemas.openxmlformats.org/drawingml/2006/main" w="9525">
            <a:solidFill>
              <a:srgbClr val="6EE7B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CEF9CE-E107-43A4-929C-AAFDE0C64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247900"/>
            <a:ext cx="1352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6EE7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6EE7B7"/>
                </a:solidFill>
                <a:latin typeface="Microsoft YaHei"/>
                <a:ea typeface="Microsoft YaHei"/>
                <a:cs typeface="Microsoft YaHei"/>
              </a:rPr>
              <a:t>Shared Memory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B0CB4B-726C-4DD9-8852-3EE852E65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000250"/>
            <a:ext cx="1619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E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81D2C5-E810-4938-A671-BC92A063E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247900"/>
            <a:ext cx="1352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Candidate Answer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F13BA9-5BC8-4D75-A9B4-B3E5C0015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00250"/>
            <a:ext cx="1619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E"/>
          </a:solidFill>
          <a:ln xmlns:a="http://schemas.openxmlformats.org/drawingml/2006/main" w="9525">
            <a:solidFill>
              <a:srgbClr val="FB718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6021F8-C287-42F0-B4BA-A043D8D94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247900"/>
            <a:ext cx="1352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B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B7185"/>
                </a:solidFill>
                <a:latin typeface="Microsoft YaHei"/>
                <a:ea typeface="Microsoft YaHei"/>
                <a:cs typeface="Microsoft YaHei"/>
              </a:rPr>
              <a:t>Evaluator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16EA35-9FE4-418C-9399-4C7F5A3E0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409825"/>
            <a:ext cx="3714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A5FF"/>
          </a:solidFill>
          <a:ln xmlns:a="http://schemas.openxmlformats.org/drawingml/2006/main" w="0">
            <a:solidFill>
              <a:srgbClr val="4EA5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0FF2EE-4496-4E9F-846F-E2AEFBD4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3431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EA5FF"/>
          </a:solidFill>
          <a:ln xmlns:a="http://schemas.openxmlformats.org/drawingml/2006/main" w="0">
            <a:solidFill>
              <a:srgbClr val="4EA5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C5B9ED-BBD1-46FD-AF12-0312DBEA6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409825"/>
            <a:ext cx="3714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A5FF"/>
          </a:solidFill>
          <a:ln xmlns:a="http://schemas.openxmlformats.org/drawingml/2006/main" w="0">
            <a:solidFill>
              <a:srgbClr val="4EA5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EC0F51-8AC4-4812-BDCF-2AF097890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3431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EA5FF"/>
          </a:solidFill>
          <a:ln xmlns:a="http://schemas.openxmlformats.org/drawingml/2006/main" w="0">
            <a:solidFill>
              <a:srgbClr val="4EA5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C62635-11D6-48C6-BFB7-203EEBD19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409825"/>
            <a:ext cx="3714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A5FF"/>
          </a:solidFill>
          <a:ln xmlns:a="http://schemas.openxmlformats.org/drawingml/2006/main" w="0">
            <a:solidFill>
              <a:srgbClr val="4EA5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E740A1-07C1-4C0B-910A-5615BDFF2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3431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EA5FF"/>
          </a:solidFill>
          <a:ln xmlns:a="http://schemas.openxmlformats.org/drawingml/2006/main" w="0">
            <a:solidFill>
              <a:srgbClr val="4EA5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F1939A-47C7-4021-8656-F67917E13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409825"/>
            <a:ext cx="3714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A5FF"/>
          </a:solidFill>
          <a:ln xmlns:a="http://schemas.openxmlformats.org/drawingml/2006/main" w="0">
            <a:solidFill>
              <a:srgbClr val="4EA5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D45038-8C47-4890-94D4-E7D4C267C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3431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EA5FF"/>
          </a:solidFill>
          <a:ln xmlns:a="http://schemas.openxmlformats.org/drawingml/2006/main" w="0">
            <a:solidFill>
              <a:srgbClr val="4EA5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99B666-7284-4CF9-B644-AD1A01023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676650"/>
            <a:ext cx="8191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33A"/>
          </a:solidFill>
          <a:ln xmlns:a="http://schemas.openxmlformats.org/drawingml/2006/main" w="9525">
            <a:solidFill>
              <a:srgbClr val="2A426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0C0771-80B1-4BD9-BA66-D136E49E9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848100"/>
            <a:ext cx="7429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Optimizer 修正低证据答案，FinalAnswer JSON 同时提供 conclusion、steps、risks、commands、evidence、self_check。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7BF129-311F-4E79-9D05-75CE96296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57500"/>
            <a:ext cx="95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FB718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C05489-BC68-4FD4-8321-0313830C8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099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FB718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6D08D1-BC49-4B98-9D19-BD8634E37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447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6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AB6C8"/>
                </a:solidFill>
                <a:latin typeface="Microsoft YaHei"/>
                <a:ea typeface="Microsoft YaHei"/>
                <a:cs typeface="Microsoft YaHei"/>
              </a:rPr>
              <a:t>• Worker 互不聊天，输出可检查的 WorkerOutput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64F932-825A-4711-87AD-F3587A6D9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095875"/>
            <a:ext cx="447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6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AB6C8"/>
                </a:solidFill>
                <a:latin typeface="Microsoft YaHei"/>
                <a:ea typeface="Microsoft YaHei"/>
                <a:cs typeface="Microsoft YaHei"/>
              </a:rPr>
              <a:t>• Evidence 按 evidence_id 去重并进入 Shared Memory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D73368-BF6C-4162-843C-9347FAF42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95925"/>
            <a:ext cx="447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6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AB6C8"/>
                </a:solidFill>
                <a:latin typeface="Microsoft YaHei"/>
                <a:ea typeface="Microsoft YaHei"/>
                <a:cs typeface="Microsoft YaHei"/>
              </a:rPr>
              <a:t>• SelfCheck 检查 evidence coverage、命令来源和风险提示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BE17095-B960-4364-B36C-132D0E69E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495925"/>
            <a:ext cx="447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6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AB6C8"/>
                </a:solidFill>
                <a:latin typeface="Microsoft YaHei"/>
                <a:ea typeface="Microsoft YaHei"/>
                <a:cs typeface="Microsoft YaHei"/>
              </a:rPr>
              <a:t>• Debug Console 展示完整轨迹，用户页只展示产品化结果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BEDF35B-FD4E-4DA1-8AE9-F74303F43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29375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D8AA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D8AA2"/>
                </a:solidFill>
                <a:latin typeface="Microsoft YaHei"/>
                <a:ea typeface="Microsoft YaHei"/>
                <a:cs typeface="Microsoft YaHei"/>
              </a:rPr>
              <a:t>RepoMentor 最终展示材料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EF79626-5FD5-4F09-8AFA-E3DC75FA0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D8AA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D8AA2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2690136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7EA8A8-D59C-45B3-AA05-C81033C18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F83C51-32E4-4FBC-AE7D-1A23BCAC4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A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C23A22-A366-4605-A8B7-790B4CEA1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6D5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6D5C8"/>
                </a:solidFill>
                <a:latin typeface="Microsoft YaHei"/>
                <a:ea typeface="Microsoft YaHei"/>
                <a:cs typeface="Microsoft YaHei"/>
              </a:rPr>
              <a:t>PRODUCT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E708EE-8197-4E8E-8BD1-30143D988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9600"/>
            <a:ext cx="6667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用户页和调试页分离：同一系统，两种视角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938CFE-B77E-4F71-B9F7-436E655B1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52550"/>
            <a:ext cx="619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6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AB6C8"/>
                </a:solidFill>
                <a:latin typeface="Microsoft YaHei"/>
                <a:ea typeface="Microsoft YaHei"/>
                <a:cs typeface="Microsoft YaHei"/>
              </a:rPr>
              <a:t>普通用户不需要看 Agent Flow；开发者需要完整 trace、Data Layer 和 FinalAnswer JSON。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CFA654-9303-47A7-B7EB-D8D5984A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51911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E"/>
          </a:solidFill>
          <a:ln xmlns:a="http://schemas.openxmlformats.org/drawingml/2006/main" w="9525">
            <a:solidFill>
              <a:srgbClr val="6EE7B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265722-4606-4BB5-8318-8A8809AD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51911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E"/>
          </a:solidFill>
          <a:ln xmlns:a="http://schemas.openxmlformats.org/drawingml/2006/main" w="9525">
            <a:solidFill>
              <a:srgbClr val="4EA5FF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441fa243564b68"/>
          <a:stretch xmlns:a="http://schemas.openxmlformats.org/drawingml/2006/main"/>
        </p:blipFill>
        <p:spPr>
          <a:xfrm xmlns:a="http://schemas.openxmlformats.org/drawingml/2006/main">
            <a:off x="2515268" y="2000250"/>
            <a:ext cx="1379790" cy="2381250"/>
          </a:xfrm>
          <a:prstGeom xmlns:a="http://schemas.openxmlformats.org/drawingml/2006/main" prst="rect">
            <a:avLst/>
          </a:prstGeom>
        </p:spPr>
      </p:pic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48d3061b9e48f5"/>
          <a:stretch xmlns:a="http://schemas.openxmlformats.org/drawingml/2006/main"/>
        </p:blipFill>
        <p:spPr>
          <a:xfrm xmlns:a="http://schemas.openxmlformats.org/drawingml/2006/main">
            <a:off x="8398342" y="2000250"/>
            <a:ext cx="1157941" cy="23812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6A48C1-8CFC-4BF4-BE72-D6A0E148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72000"/>
            <a:ext cx="457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EE7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EE7B7"/>
                </a:solidFill>
                <a:latin typeface="Microsoft YaHei"/>
                <a:ea typeface="Microsoft YaHei"/>
                <a:cs typeface="Microsoft YaHei"/>
              </a:rPr>
              <a:t>用户页：面向学习与贡献，默认隐藏内部实现。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61AB77-B3AC-44F0-B90A-FDB4702B8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72000"/>
            <a:ext cx="457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EA5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EA5FF"/>
                </a:solidFill>
                <a:latin typeface="Microsoft YaHei"/>
                <a:ea typeface="Microsoft YaHei"/>
                <a:cs typeface="Microsoft YaHei"/>
              </a:rPr>
              <a:t>调试页：面向开发和答辩，展示完整交互轨迹。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E2A1AB-A030-4D74-B283-D95ADC2C1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81650"/>
            <a:ext cx="971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验收点：用户页不展示 Worker raw output / Data Layer / SelfCheck；调试页保留 Agent Flow、Shared Memory、FinalAnswer JSON。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D72D92-B3D9-42AC-9C13-787D588B2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29375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D8AA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D8AA2"/>
                </a:solidFill>
                <a:latin typeface="Microsoft YaHei"/>
                <a:ea typeface="Microsoft YaHei"/>
                <a:cs typeface="Microsoft YaHei"/>
              </a:rPr>
              <a:t>RepoMentor 最终展示材料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FF333F-F0BC-4EF4-84AC-0A4F01AA8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D8AA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D8AA2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7766170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4DD203-2782-42DB-A1F3-896402081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BDEBF4-ED09-464C-866E-08F67CE56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A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388199-1C61-4552-80EC-B4BE8A8E3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6D5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6D5C8"/>
                </a:solidFill>
                <a:latin typeface="Microsoft YaHei"/>
                <a:ea typeface="Microsoft YaHei"/>
                <a:cs typeface="Microsoft YaHei"/>
              </a:rPr>
              <a:t>DEMO SCRIPT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77584A-53F5-478F-8A0B-58AD79412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9600"/>
            <a:ext cx="6667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3–5 分钟 Demo 录屏脚本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D79B41-5D00-4CC3-B469-BD39F3326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52550"/>
            <a:ext cx="619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6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AB6C8"/>
                </a:solidFill>
                <a:latin typeface="Microsoft YaHei"/>
                <a:ea typeface="Microsoft YaHei"/>
                <a:cs typeface="Microsoft YaHei"/>
              </a:rPr>
              <a:t>按任务书要求展示可运行 Demo、系统展示和完整交互轨迹。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18C326-7C9A-48C3-8792-450020B63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43100"/>
            <a:ext cx="857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6D5C8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36D5C8"/>
                </a:solidFill>
                <a:latin typeface="Aptos Display"/>
                <a:ea typeface="Aptos Display"/>
                <a:cs typeface="Aptos Display"/>
              </a:rPr>
              <a:t>00:00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25A85F-DB18-485B-A86D-75435F19A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1866900"/>
            <a:ext cx="8429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2A426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6F33BA-06D6-4B12-8155-583A20A45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971675"/>
            <a:ext cx="2571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输入 GitHub 仓库链接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594CE7-07BA-4771-A8B6-4C7226EB7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AB6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AB6C8"/>
                </a:solidFill>
                <a:latin typeface="Microsoft YaHei"/>
                <a:ea typeface="Microsoft YaHei"/>
                <a:cs typeface="Microsoft YaHei"/>
              </a:rPr>
              <a:t>触发仓库解析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714C83-7F2A-49B3-8E73-D56CA9B8A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857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6D5C8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36D5C8"/>
                </a:solidFill>
                <a:latin typeface="Aptos Display"/>
                <a:ea typeface="Aptos Display"/>
                <a:cs typeface="Aptos Display"/>
              </a:rPr>
              <a:t>00:30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D57972-1586-4B92-9B7B-E51E98AEA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590800"/>
            <a:ext cx="8429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2A426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505132-8B7B-4E58-92A5-52724E747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695575"/>
            <a:ext cx="2571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仓库概览 + 代码地图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1D1446-ECBE-471B-B0B9-1ACDE091F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241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AB6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AB6C8"/>
                </a:solidFill>
                <a:latin typeface="Microsoft YaHei"/>
                <a:ea typeface="Microsoft YaHei"/>
                <a:cs typeface="Microsoft YaHei"/>
              </a:rPr>
              <a:t>文件、入口、命令、测试/文档关系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6A40B7-CAD6-43E5-8FE7-08CBB0709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0900"/>
            <a:ext cx="857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6D5C8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36D5C8"/>
                </a:solidFill>
                <a:latin typeface="Aptos Display"/>
                <a:ea typeface="Aptos Display"/>
                <a:cs typeface="Aptos Display"/>
              </a:rPr>
              <a:t>01:30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2695CC-0E7B-43FE-9CB6-A52AAF217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314700"/>
            <a:ext cx="8429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2A426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05EB9F-9EAB-4B03-97EB-FFAD0A46D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419475"/>
            <a:ext cx="2571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学习路径 + 开发流程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74FA6E-A696-438D-B975-68A112387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448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AB6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AB6C8"/>
                </a:solidFill>
                <a:latin typeface="Microsoft YaHei"/>
                <a:ea typeface="Microsoft YaHei"/>
                <a:cs typeface="Microsoft YaHei"/>
              </a:rPr>
              <a:t>Learning Path V2、setup/run/test、PR/CI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562AA6-8D37-4114-9F21-0419AE715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14800"/>
            <a:ext cx="857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6D5C8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36D5C8"/>
                </a:solidFill>
                <a:latin typeface="Aptos Display"/>
                <a:ea typeface="Aptos Display"/>
                <a:cs typeface="Aptos Display"/>
              </a:rPr>
              <a:t>02:30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3346FC-0CE0-400F-88D4-C096CAAAD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038600"/>
            <a:ext cx="8429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2A426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9A30F3-2E7A-4236-A6A3-BBE87FCE8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143375"/>
            <a:ext cx="2571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推荐任务 + 证据问答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26887A-227C-45CB-A9FE-4B7933332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1719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AB6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AB6C8"/>
                </a:solidFill>
                <a:latin typeface="Microsoft YaHei"/>
                <a:ea typeface="Microsoft YaHei"/>
                <a:cs typeface="Microsoft YaHei"/>
              </a:rPr>
              <a:t>open issue 为 0 时 internal first tasks；问“这个项目怎么启动”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EDD2FE-BA5E-484E-BDFF-703FE60BB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38700"/>
            <a:ext cx="857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6D5C8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36D5C8"/>
                </a:solidFill>
                <a:latin typeface="Aptos Display"/>
                <a:ea typeface="Aptos Display"/>
                <a:cs typeface="Aptos Display"/>
              </a:rPr>
              <a:t>03:30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8089FE-6DAC-4B62-993B-483912E34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762500"/>
            <a:ext cx="8429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2A426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32F221-F626-44A0-A8B1-93ECD3226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867275"/>
            <a:ext cx="2571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切换调试控制台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BFF083-1511-4DC2-B536-61435B1F4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895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AB6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AB6C8"/>
                </a:solidFill>
                <a:latin typeface="Microsoft YaHei"/>
                <a:ea typeface="Microsoft YaHei"/>
                <a:cs typeface="Microsoft YaHei"/>
              </a:rPr>
              <a:t>Agent Flow、Data Layer、SelfCheck、FinalAnswer JSON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36B947-B43B-4105-8F07-C6C879EFE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05500"/>
            <a:ext cx="952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EE7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6EE7B7"/>
                </a:solidFill>
                <a:latin typeface="Microsoft YaHei"/>
                <a:ea typeface="Microsoft YaHei"/>
                <a:cs typeface="Microsoft YaHei"/>
              </a:rPr>
              <a:t>讲解关键词：结构先行、证据约束、用户/调试分离、早期 FAIL 来自 evidence 覆盖不足而非系统崩溃。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3BB767-B1D5-4FAC-80BE-8A4143915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29375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D8AA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D8AA2"/>
                </a:solidFill>
                <a:latin typeface="Microsoft YaHei"/>
                <a:ea typeface="Microsoft YaHei"/>
                <a:cs typeface="Microsoft YaHei"/>
              </a:rPr>
              <a:t>RepoMentor 最终展示材料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806ACF-A726-475F-8D35-6BBD3D840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D8AA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D8AA2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4478372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1AACC0-7B39-4A2D-A981-63368D030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B7C16B-7070-43AA-9509-967E34DBB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A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AEC5EE-B530-4091-BBB9-79A576A12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6D5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6D5C8"/>
                </a:solidFill>
                <a:latin typeface="Microsoft YaHei"/>
                <a:ea typeface="Microsoft YaHei"/>
                <a:cs typeface="Microsoft YaHei"/>
              </a:rPr>
              <a:t>TESTING &amp; ITERATION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934AD8-B8A8-4306-8D8D-E94DE9047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9600"/>
            <a:ext cx="6667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压力测试与迭代记录：FAIL 是证据覆盖问题，不是系统崩溃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85F438-F358-420A-822F-BDB43CB1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52550"/>
            <a:ext cx="619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6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AB6C8"/>
                </a:solidFill>
                <a:latin typeface="Microsoft YaHei"/>
                <a:ea typeface="Microsoft YaHei"/>
                <a:cs typeface="Microsoft YaHei"/>
              </a:rPr>
              <a:t>测试目标从“能回答”升级到“回答必须能被证据验证”。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537630-7CD0-44E9-9EAC-BBC5D6FED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619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E"/>
          </a:solidFill>
          <a:ln xmlns:a="http://schemas.openxmlformats.org/drawingml/2006/main" w="9525">
            <a:solidFill>
              <a:srgbClr val="27405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DB9191-BACA-4739-9807-24D64AF7C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33550"/>
            <a:ext cx="1314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6EE7B7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6EE7B7"/>
                </a:solidFill>
                <a:latin typeface="Aptos Display"/>
                <a:ea typeface="Aptos Display"/>
                <a:cs typeface="Aptos Display"/>
              </a:rPr>
              <a:t>47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144A67-EDFB-4F7D-AE80-7B7F1B38D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85975"/>
            <a:ext cx="1314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AB6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AAB6C8"/>
                </a:solidFill>
                <a:latin typeface="Microsoft YaHei"/>
                <a:ea typeface="Microsoft YaHei"/>
                <a:cs typeface="Microsoft YaHei"/>
              </a:rPr>
              <a:t>后端测试通过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84F608-4542-481A-A1E5-A38C9C9F3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619250"/>
            <a:ext cx="1619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E"/>
          </a:solidFill>
          <a:ln xmlns:a="http://schemas.openxmlformats.org/drawingml/2006/main" w="9525">
            <a:solidFill>
              <a:srgbClr val="2740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3EB04C-7E43-485E-84FC-BA366B95D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733550"/>
            <a:ext cx="1314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6D5C8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36D5C8"/>
                </a:solidFill>
                <a:latin typeface="Aptos Display"/>
                <a:ea typeface="Aptos Display"/>
                <a:cs typeface="Aptos Display"/>
              </a:rPr>
              <a:t>64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135267-5EBE-49AC-96FA-B60EC0F9D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085975"/>
            <a:ext cx="1314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AB6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AAB6C8"/>
                </a:solidFill>
                <a:latin typeface="Microsoft YaHei"/>
                <a:ea typeface="Microsoft YaHei"/>
                <a:cs typeface="Microsoft YaHei"/>
              </a:rPr>
              <a:t>文件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8531AD-9929-4C02-915D-400715794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19250"/>
            <a:ext cx="1619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E"/>
          </a:solidFill>
          <a:ln xmlns:a="http://schemas.openxmlformats.org/drawingml/2006/main" w="9525">
            <a:solidFill>
              <a:srgbClr val="27405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F3E0A6-868C-4927-AF64-1C32F008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733550"/>
            <a:ext cx="1314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6D5C8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36D5C8"/>
                </a:solidFill>
                <a:latin typeface="Aptos Display"/>
                <a:ea typeface="Aptos Display"/>
                <a:cs typeface="Aptos Display"/>
              </a:rPr>
              <a:t>221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A12086-E2C9-48D2-A5BE-711BE7BA9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85975"/>
            <a:ext cx="1314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AB6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AAB6C8"/>
                </a:solidFill>
                <a:latin typeface="Microsoft YaHei"/>
                <a:ea typeface="Microsoft YaHei"/>
                <a:cs typeface="Microsoft YaHei"/>
              </a:rPr>
              <a:t>符号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A23776-C360-4088-9B5C-639D7C09A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19250"/>
            <a:ext cx="1619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E"/>
          </a:solidFill>
          <a:ln xmlns:a="http://schemas.openxmlformats.org/drawingml/2006/main" w="9525">
            <a:solidFill>
              <a:srgbClr val="2740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60AF90-4F97-4122-83FC-E6D0664A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33550"/>
            <a:ext cx="1314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BBF24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BBF24"/>
                </a:solidFill>
                <a:latin typeface="Aptos Display"/>
                <a:ea typeface="Aptos Display"/>
                <a:cs typeface="Aptos Display"/>
              </a:rPr>
              <a:t>15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5DBAA6-6B76-44AA-AF79-F30A6FAC6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85975"/>
            <a:ext cx="1314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AB6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AAB6C8"/>
                </a:solidFill>
                <a:latin typeface="Microsoft YaHei"/>
                <a:ea typeface="Microsoft YaHei"/>
                <a:cs typeface="Microsoft YaHei"/>
              </a:rPr>
              <a:t>测试边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8294C5-A7CB-4D8A-BB68-A846E812E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19250"/>
            <a:ext cx="1619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E"/>
          </a:solidFill>
          <a:ln xmlns:a="http://schemas.openxmlformats.org/drawingml/2006/main" w="9525">
            <a:solidFill>
              <a:srgbClr val="27405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C05037-CD2B-4289-ABEF-95878B021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33550"/>
            <a:ext cx="1314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BBF24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BBF24"/>
                </a:solidFill>
                <a:latin typeface="Aptos Display"/>
                <a:ea typeface="Aptos Display"/>
                <a:cs typeface="Aptos Display"/>
              </a:rPr>
              <a:t>50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CA880F-D818-451F-A168-C8E9F5737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85975"/>
            <a:ext cx="1314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AB6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AAB6C8"/>
                </a:solidFill>
                <a:latin typeface="Microsoft YaHei"/>
                <a:ea typeface="Microsoft YaHei"/>
                <a:cs typeface="Microsoft YaHei"/>
              </a:rPr>
              <a:t>文档边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8155E8-0BCD-40FE-A428-C3BD52879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619250"/>
            <a:ext cx="1619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E"/>
          </a:solidFill>
          <a:ln xmlns:a="http://schemas.openxmlformats.org/drawingml/2006/main" w="9525">
            <a:solidFill>
              <a:srgbClr val="2740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8A29FA-AC15-4BFA-A048-8D39FE841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733550"/>
            <a:ext cx="1314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6EE7B7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6EE7B7"/>
                </a:solidFill>
                <a:latin typeface="Aptos Display"/>
                <a:ea typeface="Aptos Display"/>
                <a:cs typeface="Aptos Display"/>
              </a:rPr>
              <a:t>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5E9BA0-3CCD-4EDB-8004-4DDD9F494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085975"/>
            <a:ext cx="1314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AB6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AAB6C8"/>
                </a:solidFill>
                <a:latin typeface="Microsoft YaHei"/>
                <a:ea typeface="Microsoft YaHei"/>
                <a:cs typeface="Microsoft YaHei"/>
              </a:rPr>
              <a:t>命令幻觉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4E8654-A36A-42C2-B251-67E1C94BD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48101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E"/>
          </a:solidFill>
          <a:ln xmlns:a="http://schemas.openxmlformats.org/drawingml/2006/main" w="9525">
            <a:solidFill>
              <a:srgbClr val="FB718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76EB2E-F435-4018-9DA8-9DD0627D1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71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B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B7185"/>
                </a:solidFill>
                <a:latin typeface="Microsoft YaHei"/>
                <a:ea typeface="Microsoft YaHei"/>
                <a:cs typeface="Microsoft YaHei"/>
              </a:rPr>
              <a:t>早期 FAIL 原因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7B430B-03C5-4BD2-B167-7BB72E640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29050"/>
            <a:ext cx="4095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• evidence 覆盖不足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• 测试/文档映射不足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• 命令重复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• SelfCheck 过宽松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• open issue 为 0 时任务为空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B716C6-9336-4F8E-B032-C673829C5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05150"/>
            <a:ext cx="48101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E"/>
          </a:solidFill>
          <a:ln xmlns:a="http://schemas.openxmlformats.org/drawingml/2006/main" w="9525">
            <a:solidFill>
              <a:srgbClr val="6EE7B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347F47-4C69-4963-B239-19D8F1F7E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371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EE7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EE7B7"/>
                </a:solidFill>
                <a:latin typeface="Microsoft YaHei"/>
                <a:ea typeface="Microsoft YaHei"/>
                <a:cs typeface="Microsoft YaHei"/>
              </a:rPr>
              <a:t>修复动作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669A44-B889-4077-A747-304F99002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829050"/>
            <a:ext cx="4095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• EvidenceBuilder 增强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• Docs/Test edge 修复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• 命令规范化去重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• Shared Memory evidence 合并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• internal first tasks fallback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E9CEAB-022F-41D8-B26C-76E462D79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734050"/>
            <a:ext cx="990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6EE7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6EE7B7"/>
                </a:solidFill>
                <a:latin typeface="Microsoft YaHei"/>
                <a:ea typeface="Microsoft YaHei"/>
                <a:cs typeface="Microsoft YaHei"/>
              </a:rPr>
              <a:t>结论：系统链路可运行；质量迭代重点从稳定性转向证据覆盖率和答案可信度。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2BC0FA-0416-40D8-A40C-2B1DB8B5D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29375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D8AA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D8AA2"/>
                </a:solidFill>
                <a:latin typeface="Microsoft YaHei"/>
                <a:ea typeface="Microsoft YaHei"/>
                <a:cs typeface="Microsoft YaHei"/>
              </a:rPr>
              <a:t>RepoMentor 最终展示材料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0A1F0F9-94DD-4366-B395-9372438D2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D8AA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D8AA2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2102936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7EADB3-8067-44BA-A9FD-2D6309247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014174-D53D-4C04-828C-B582409F4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A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070E01-FAD6-4DF5-A9E3-251B22429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6D5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6D5C8"/>
                </a:solidFill>
                <a:latin typeface="Microsoft YaHei"/>
                <a:ea typeface="Microsoft YaHei"/>
                <a:cs typeface="Microsoft YaHei"/>
              </a:rPr>
              <a:t>ROADMAP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852274-B7DA-4F4F-83C5-3681FC9D9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9600"/>
            <a:ext cx="6667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开发路线：从结构可信到真实模型与可部署展示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95F7F3-5B15-4E7D-8F24-B955B9EB3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52550"/>
            <a:ext cx="619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6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AB6C8"/>
                </a:solidFill>
                <a:latin typeface="Microsoft YaHei"/>
                <a:ea typeface="Microsoft YaHei"/>
                <a:cs typeface="Microsoft YaHei"/>
              </a:rPr>
              <a:t>下一阶段继续保持事实确定性，让 LLM 成为解释层而不是事实来源。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737419-2BCE-4698-BF58-85ADE2F05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2190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E"/>
          </a:solidFill>
          <a:ln xmlns:a="http://schemas.openxmlformats.org/drawingml/2006/main" w="9525">
            <a:solidFill>
              <a:srgbClr val="6EE7B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BD4F01-79DC-4C3E-A1A0-0C7489C18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66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EE7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EE7B7"/>
                </a:solidFill>
                <a:latin typeface="Microsoft YaHei"/>
                <a:ea typeface="Microsoft YaHei"/>
                <a:cs typeface="Microsoft YaHei"/>
              </a:rPr>
              <a:t>已完成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2D6FB3-7B87-477B-9D38-BE8438744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479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Evidence 修复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BB9368-CF09-4719-9C59-E7D9E57EF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81350"/>
            <a:ext cx="1752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AB6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AB6C8"/>
                </a:solidFill>
                <a:latin typeface="Microsoft YaHei"/>
                <a:ea typeface="Microsoft YaHei"/>
                <a:cs typeface="Microsoft YaHei"/>
              </a:rPr>
              <a:t>入口、测试边、文档边、命令去重、Shared Memory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32370B-8B7D-467B-8B2E-0FA167E0E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00375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A5FF"/>
          </a:solidFill>
          <a:ln xmlns:a="http://schemas.openxmlformats.org/drawingml/2006/main" w="0">
            <a:solidFill>
              <a:srgbClr val="4EA5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F0B657-EED7-40B7-A3CA-A0152E72F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9337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EA5FF"/>
          </a:solidFill>
          <a:ln xmlns:a="http://schemas.openxmlformats.org/drawingml/2006/main" w="0">
            <a:solidFill>
              <a:srgbClr val="4EA5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C32895-210F-4455-93A2-33D12D23F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000250"/>
            <a:ext cx="2190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E"/>
          </a:solidFill>
          <a:ln xmlns:a="http://schemas.openxmlformats.org/drawingml/2006/main" w="9525">
            <a:solidFill>
              <a:srgbClr val="6EE7B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72AC0D-F959-4333-A877-F33B41EE0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266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EE7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EE7B7"/>
                </a:solidFill>
                <a:latin typeface="Microsoft YaHei"/>
                <a:ea typeface="Microsoft YaHei"/>
                <a:cs typeface="Microsoft YaHei"/>
              </a:rPr>
              <a:t>已完成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77AE0C-07C3-4F78-9E86-73E8CFAAC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6479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DeepSeek 接入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8846AC-3CF7-4AB5-A399-84AEA6564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181350"/>
            <a:ext cx="1752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AB6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AB6C8"/>
                </a:solidFill>
                <a:latin typeface="Microsoft YaHei"/>
                <a:ea typeface="Microsoft YaHei"/>
                <a:cs typeface="Microsoft YaHei"/>
              </a:rPr>
              <a:t>模型控制、Mock/DeepSeek 切换、Key 不回显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C83EDE-0BBF-42ED-BE76-3F5E7DFD2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000375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A5FF"/>
          </a:solidFill>
          <a:ln xmlns:a="http://schemas.openxmlformats.org/drawingml/2006/main" w="0">
            <a:solidFill>
              <a:srgbClr val="4EA5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BB1CDE-4365-4999-8E82-94CF4E1B4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337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EA5FF"/>
          </a:solidFill>
          <a:ln xmlns:a="http://schemas.openxmlformats.org/drawingml/2006/main" w="0">
            <a:solidFill>
              <a:srgbClr val="4EA5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71BD47-5925-4CBC-AE98-C4D3F446C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00250"/>
            <a:ext cx="2190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E"/>
          </a:solidFill>
          <a:ln xmlns:a="http://schemas.openxmlformats.org/drawingml/2006/main" w="9525">
            <a:solidFill>
              <a:srgbClr val="6EE7B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B3E353-C5FF-4A8E-8DA0-48AA7A98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66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EE7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EE7B7"/>
                </a:solidFill>
                <a:latin typeface="Microsoft YaHei"/>
                <a:ea typeface="Microsoft YaHei"/>
                <a:cs typeface="Microsoft YaHei"/>
              </a:rPr>
              <a:t>已完成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B6DCB8-1663-4BB5-8C6F-57C41C4D8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479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LangGraph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CC1DE1-9A48-421E-B9C7-5E267DEC7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81350"/>
            <a:ext cx="1752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AB6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AB6C8"/>
                </a:solidFill>
                <a:latin typeface="Microsoft YaHei"/>
                <a:ea typeface="Microsoft YaHei"/>
                <a:cs typeface="Microsoft YaHei"/>
              </a:rPr>
              <a:t>可选编排、checkpoint、trace、fallback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836528-D45C-4135-B224-90A87EA7A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000375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A5FF"/>
          </a:solidFill>
          <a:ln xmlns:a="http://schemas.openxmlformats.org/drawingml/2006/main" w="0">
            <a:solidFill>
              <a:srgbClr val="4EA5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DE56C0-67D3-438E-B962-8759957EA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337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EA5FF"/>
          </a:solidFill>
          <a:ln xmlns:a="http://schemas.openxmlformats.org/drawingml/2006/main" w="0">
            <a:solidFill>
              <a:srgbClr val="4EA5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6617A3-3461-4EBE-9769-1C95188AB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000250"/>
            <a:ext cx="2190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33A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A82062-A40F-48E8-B8F7-CA4E1287C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266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下一阶段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C23C10-D5B4-4BC2-BBEC-0487C3C5B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6479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部署展示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F0B4E3-F2BC-4F96-AC7E-A1C58E6DB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181350"/>
            <a:ext cx="1752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AB6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AB6C8"/>
                </a:solidFill>
                <a:latin typeface="Microsoft YaHei"/>
                <a:ea typeface="Microsoft YaHei"/>
                <a:cs typeface="Microsoft YaHei"/>
              </a:rPr>
              <a:t>后端服务化、前端静态站点、演示仓库缓存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D26FD7-CFC8-45AF-BC23-13E2E4B2F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53000"/>
            <a:ext cx="914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C30"/>
          </a:solidFill>
          <a:ln xmlns:a="http://schemas.openxmlformats.org/drawingml/2006/main" w="9525">
            <a:solidFill>
              <a:srgbClr val="4EA5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C02A11-8838-461F-AE0C-045B0B07F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086350"/>
            <a:ext cx="857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评估路线：Mock baseline → DeepSeek A/B → LangGraph 默认执行 → 可复现实验与公开 Demo。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9E722E-38BF-4D93-9E35-F788AFDDC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29375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D8AA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D8AA2"/>
                </a:solidFill>
                <a:latin typeface="Microsoft YaHei"/>
                <a:ea typeface="Microsoft YaHei"/>
                <a:cs typeface="Microsoft YaHei"/>
              </a:rPr>
              <a:t>RepoMentor 最终展示材料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C2963E2-870F-498D-AFAE-080DBAA79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D8AA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D8AA2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29099089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B89BB4-D3EA-4A5E-8658-AFB3346BF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C37968-3DB3-46C8-9A7F-89DA832AF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A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166E71-C092-455D-8F4B-B6F713E4E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6D5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6D5C8"/>
                </a:solidFill>
                <a:latin typeface="Microsoft YaHei"/>
                <a:ea typeface="Microsoft YaHei"/>
                <a:cs typeface="Microsoft YaHei"/>
              </a:rPr>
              <a:t>SUBMISSION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DE28EC-FEAB-4362-B4ED-27ACF7F49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9600"/>
            <a:ext cx="6667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提交材料清单：Demo、系统展示、交互轨迹一套闭环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B169B5-3EBB-4238-ACF5-3099CCA12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52550"/>
            <a:ext cx="619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6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AB6C8"/>
                </a:solidFill>
                <a:latin typeface="Microsoft YaHei"/>
                <a:ea typeface="Microsoft YaHei"/>
                <a:cs typeface="Microsoft YaHei"/>
              </a:rPr>
              <a:t>所有材料均可在 docs 目录中找到，录屏时按 demo_script.md 执行。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EE446F-4201-4F18-9B05-E40F8996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76400"/>
            <a:ext cx="4857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E"/>
          </a:solidFill>
          <a:ln xmlns:a="http://schemas.openxmlformats.org/drawingml/2006/main" w="9525">
            <a:solidFill>
              <a:srgbClr val="6EE7B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2DF33E-6DA4-4D2B-A432-15A57FC83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76400"/>
            <a:ext cx="4857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E"/>
          </a:solidFill>
          <a:ln xmlns:a="http://schemas.openxmlformats.org/drawingml/2006/main" w="9525">
            <a:solidFill>
              <a:srgbClr val="4EA5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C788BB-C200-4288-B205-FB79AF93D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0025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EE7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6EE7B7"/>
                </a:solidFill>
                <a:latin typeface="Microsoft YaHei"/>
                <a:ea typeface="Microsoft YaHei"/>
                <a:cs typeface="Microsoft YaHei"/>
              </a:rPr>
              <a:t>展示材料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370FE5-CF01-4675-AF15-DECACAC8E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00025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EA5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4EA5FF"/>
                </a:solidFill>
                <a:latin typeface="Microsoft YaHei"/>
                <a:ea typeface="Microsoft YaHei"/>
                <a:cs typeface="Microsoft YaHei"/>
              </a:rPr>
              <a:t>交互轨迹与后续路线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8989D9-A337-4C0A-B5E2-2C8B2A169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571750"/>
            <a:ext cx="4095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✓ 可运行 Demo：8000 后端 + 5173 前端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3DE800-68C9-46B2-947A-8313C5BC5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71800"/>
            <a:ext cx="4095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✓ PPT：docs/RepoMentor_最终展示.pptx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3A5AD0-6E72-40DB-AD93-6B925A1FF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71850"/>
            <a:ext cx="4095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✓ 录屏脚本：docs/demo_script.md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67ECF3-B0E8-44BF-BE74-65DF77AAE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71900"/>
            <a:ext cx="4095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✓ PPT 提纲：docs/presentation_outline.md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D1F94B-D713-4FEF-BDB5-F48472EDF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71950"/>
            <a:ext cx="4095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✓ 测试总结：docs/testing_summary.md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CE60CC-0DEA-4329-9157-3CB50D4B2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71750"/>
            <a:ext cx="4095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✓ 完整交互轨迹：docs/interaction_trace.md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95EFFF-30BC-4706-81CB-9BDA83773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71800"/>
            <a:ext cx="4095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✓ Codex：~/.codex/sessions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234B4C-CBF0-4297-ACA6-DE1A1E9BD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71850"/>
            <a:ext cx="4095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✓ Claude Code：~/.claude/projects/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E65134-4444-4868-8350-40DB2F036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71900"/>
            <a:ext cx="4095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✓ 升级计划：docs/upgrade_plan.md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99B069-EF97-4F28-A665-A94A4A02E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71950"/>
            <a:ext cx="4095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✓ 提交清单：docs/submission_checklist.md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EDC105-3C22-4DEB-9D54-13FFE3C62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467350"/>
            <a:ext cx="990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收束主张：RepoMentor 已完成可运行 Demo，并能展示系统内部轨迹；后续重点是把证据覆盖做得更细、更稳。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482E2B-E084-41D5-9E22-D8503B0B1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29375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D8AA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D8AA2"/>
                </a:solidFill>
                <a:latin typeface="Microsoft YaHei"/>
                <a:ea typeface="Microsoft YaHei"/>
                <a:cs typeface="Microsoft YaHei"/>
              </a:rPr>
              <a:t>RepoMentor 最终展示材料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5382D0-7AFA-49A8-B7A3-DBE0C442D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D8AA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D8AA2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658044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2026-06-09T12:58:38.8900000Z</dcterms:created>
  <dcterms:modified xsi:type="dcterms:W3CDTF">2026-06-09T12:58:38.8900000Z</dcterms:modified>
</coreProperties>
</file>